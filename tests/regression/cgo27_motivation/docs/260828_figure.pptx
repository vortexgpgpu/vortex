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7B8B9C"/>
                </a:solidFill>
                <a:latin typeface="Consolas"/>
              </a:rPr>
              <a:t>VORTEX · SIMX · BRANCH DTCU · CGO27_MOTIVATION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1460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6212C"/>
                </a:solidFill>
                <a:latin typeface="Segoe UI"/>
              </a:rPr>
              <a:t>Where the accelerators attach,
and how each GEMM path uses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77639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D70"/>
                </a:solidFill>
                <a:latin typeface="Segoe UI"/>
              </a:rPr>
              <a:t>Figure export, 2026-08-28.  </a:t>
            </a:r>
            <a:r>
              <a:rPr sz="1300" b="0">
                <a:solidFill>
                  <a:srgbClr val="4A5D70"/>
                </a:solidFill>
                <a:latin typeface="Consolas"/>
              </a:rPr>
              <a:t>Document of record: docs/260807_dtcu_figures.html</a:t>
            </a:r>
            <a:r>
              <a:rPr sz="1300" b="0">
                <a:solidFill>
                  <a:srgbClr val="4A5D70"/>
                </a:solidFill>
                <a:latin typeface="Segoe UI"/>
              </a:rPr>
              <a:t> — commentary, audit trail and withdrawn claims live there. Every number here is labelled with the regime it belongs to; do not quote one without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FIG 1  </a:t>
            </a:r>
            <a:r>
              <a:rPr sz="2000" b="1">
                <a:solidFill>
                  <a:srgbClr val="16212C"/>
                </a:solidFill>
                <a:latin typeface="Segoe UI"/>
              </a:rPr>
              <a:t>Module placement, submit path, and wiring</a:t>
            </a:r>
          </a:p>
        </p:txBody>
      </p:sp>
      <p:pic>
        <p:nvPicPr>
          <p:cNvPr id="3" name="Picture 2" descr="260828_fig1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109" y="777240"/>
            <a:ext cx="7117477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Amber marks what this work adds. Both DTCU variants read operands from L2; they differ only in where D lands — the cluster engine writes it to L2, the socket engine into its own socket's L1 through an added requester slot.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FIG 2  </a:t>
            </a:r>
            <a:r>
              <a:rPr sz="2000" b="1">
                <a:solidFill>
                  <a:srgbClr val="16212C"/>
                </a:solidFill>
                <a:latin typeface="Segoe UI"/>
              </a:rPr>
              <a:t>How each cgo27_motivation mode flows</a:t>
            </a:r>
          </a:p>
        </p:txBody>
      </p:sp>
      <p:pic>
        <p:nvPicPr>
          <p:cNvPr id="3" name="Picture 2" descr="260828_fig2_data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18" y="777240"/>
            <a:ext cx="687725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Modes 7 and 8 add a second launch (the epilogue pass) for elementwise apps — the engine is GEMM-only, so the epilogue cannot fuse into it the way modes 1 · 2 · 5 · 6 fuse theirs.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CFG  </a:t>
            </a:r>
            <a:r>
              <a:rPr sz="2000" b="1">
                <a:solidFill>
                  <a:srgbClr val="16212C"/>
                </a:solidFill>
                <a:latin typeface="Segoe UI"/>
              </a:rPr>
              <a:t>Machine — one cluster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63927" y="868680"/>
          <a:ext cx="786384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93776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symbol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meaning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#cluster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clusters in the processor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NC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cores per cluster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sockets per cluster (SOCKET_SIZE 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NW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warps per 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threads per warp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NR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architectural regs per thread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issue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issue width per 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LMEM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Local Memory, per 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64 KB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L1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dcache, per socket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32 KB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L2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per cluster, 1 bank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 MB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L1 / L2 / DRAM block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64 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MODES  </a:t>
            </a:r>
            <a:r>
              <a:rPr sz="2000" b="1">
                <a:solidFill>
                  <a:srgbClr val="16212C"/>
                </a:solidFill>
                <a:latin typeface="Segoe UI"/>
              </a:rPr>
              <a:t>Modes and where D lands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727" y="777240"/>
          <a:ext cx="11064240" cy="4517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3108960"/>
                <a:gridCol w="6035040"/>
                <a:gridCol w="10972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what it does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D lands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SIMT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scalar MAC, software fp16→fp32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in-core WMMA, fragments by LSU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 + DXA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DXA stages A/B into LMEM — 1 buffer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 workgroup + DXA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multi-warp CTA shares one staged tile; warp 0 is the producer; wgmma reads smem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 workgroup, SW copy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same geometry, the CTA copies its own tiles — the DXA control for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 workgroup + DXA, A resident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CTA sweeps 4 column tiles against A staged once for the whole K — N-axis reuse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TCU wg + DXA, A resident, single B buffer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same A reuse and CTA geometry as 5; synchronous schedule isolates buffering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dcache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DTCU_socket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 engines, tile 32×16, one descriptor per socket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socket L1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DTCU_cluster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 engine, tile 64×32, one descriptor per core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L2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9·10·11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hetero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cores + engine(s) on one GEMM — numbered, not built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DTCU_socket pipeline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one producer warp and N consumer warps per core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socket L1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DTCU_cluster pipeline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core 0 warp 0 is the sole producer; N consumer warps on every core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L2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35508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Modes 2 and 4 are controls, 3 is 5 without A-residency — arguments, not candidates, so they stay out of the headline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TABLE  </a:t>
            </a:r>
            <a:r>
              <a:rPr sz="2000" b="1">
                <a:solidFill>
                  <a:srgbClr val="16212C"/>
                </a:solidFill>
                <a:latin typeface="Segoe UI"/>
              </a:rPr>
              <a:t>Measured, app 1 — three GEMM shapes on the same machine (MAC = M·N·K)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3707" y="960120"/>
          <a:ext cx="113842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914400"/>
                <a:gridCol w="1143000"/>
                <a:gridCol w="868680"/>
                <a:gridCol w="685800"/>
                <a:gridCol w="1143000"/>
                <a:gridCol w="868680"/>
                <a:gridCol w="685800"/>
                <a:gridCol w="1234440"/>
                <a:gridCol w="868680"/>
                <a:gridCol w="6858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mode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units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128×64×32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/unit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256×128×64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/unit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512×256×128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/unit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0 SIMT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142,952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1.83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0.46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skipped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skipped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1 TCU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23,513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11.15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2.79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96,244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21.79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386,994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43.35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10.84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5 TCU wg + DXA, A res.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22,820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11.49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2.87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66,521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31.53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7.88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305,878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54.85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13.71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7 DTCU_socket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engines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11,728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22.35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5.59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49,152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42.66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10.67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303,303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55.31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13.83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8 DTCU_cluster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1 engine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49,472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5.30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5.30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160,420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13.07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13.07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1,111,970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15.09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15.09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02336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Bold = best in column (and anything within 2 % of it). Mode 0 is skipped above the smallest shape by policy — no engine, no staging, no knob; recorded values are 1,145,460 and 9,581,708.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REGIME 1  </a:t>
            </a:r>
            <a:r>
              <a:rPr sz="2000" b="1">
                <a:solidFill>
                  <a:srgbClr val="16212C"/>
                </a:solidFill>
                <a:latin typeface="Segoe UI"/>
              </a:rPr>
              <a:t>Attention-shaped: K = head_dim = 64 fixed, M = N = seqlen swept — memory-bound at every size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75207" y="960120"/>
          <a:ext cx="10241280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97280"/>
                <a:gridCol w="1554480"/>
                <a:gridCol w="1554480"/>
                <a:gridCol w="155448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mode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units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M=N=128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256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512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1024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0 SIMT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7B8B9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560,994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skipped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skipped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7B8B9C"/>
                          </a:solidFill>
                          <a:latin typeface="Consolas"/>
                        </a:rPr>
                        <a:t>skipped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1 TCU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50,875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187,473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762,659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5 TCU wg + DXA, A res.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cores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41,666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123,228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7 DTCU_socket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 engines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25,826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87,782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344,451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1,523,464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9A6414"/>
                          </a:solidFill>
                          <a:latin typeface="Segoe UI"/>
                        </a:rPr>
                        <a:t>8 DTCU_cluster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1 engine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148,094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300,810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1,194,150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4,863,334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7 vs 1 — the lead grows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1.97×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2.14×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2.21×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062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— is a run that did not complete, not a skip. Every number shown verified PASSED, errors =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REGIME 2  </a:t>
            </a:r>
            <a:r>
              <a:rPr sz="2000" b="1">
                <a:solidFill>
                  <a:srgbClr val="16212C"/>
                </a:solidFill>
                <a:latin typeface="Segoe UI"/>
              </a:rPr>
              <a:t>Scale all three dimensions — where the engine stops winning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914400"/>
          <a:ext cx="100584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463040"/>
                <a:gridCol w="1463040"/>
                <a:gridCol w="1554480"/>
                <a:gridCol w="1097280"/>
                <a:gridCol w="128016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shape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1 TCU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5 A-resident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7 DTCU_socket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7 vs 1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1 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7 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128 × 64 × 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23,513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22,820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11,728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2.00×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22.4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256 × 128 × 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96,244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66,521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49,152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1.96×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21.8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512 × 256 × 128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386,994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305,878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303,303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1.28×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43.4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768 × 384 × 192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918,488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1,002,507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0.92×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61.7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56.5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1024 × 512 × 256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1,739,671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2,287,740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2,286,325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0.76×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6212C"/>
                          </a:solidFill>
                          <a:latin typeface="Consolas"/>
                        </a:rPr>
                        <a:t>77.2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58.7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977639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The crossover sits between 512×256×128 and 768×384×192: the core keeps climbing (latency hidden by parallelism) while the engine flattens against its 64 MAC/cyc ceiling at 92 % of modelled peak.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STAGING  </a:t>
            </a:r>
            <a:r>
              <a:rPr sz="2000" b="1">
                <a:solidFill>
                  <a:srgbClr val="16212C"/>
                </a:solidFill>
                <a:latin typeface="Segoe UI"/>
              </a:rPr>
              <a:t>What operand staging needs before a copy engine pays — modes 3 / 4, fused epilogue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727" y="914400"/>
          <a:ext cx="110642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234440"/>
                <a:gridCol w="1051560"/>
                <a:gridCol w="1234440"/>
                <a:gridCol w="1051560"/>
                <a:gridCol w="1234440"/>
                <a:gridCol w="1051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measurement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3 DXA
128×64×32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4 SW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3 DXA
256×128×64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4 SW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3 DXA
512×256×128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4 SW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measured — whole kernel, D = epi(C + A·B)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25,386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32,583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103,400 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152,677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454,165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measured — C read compiled out (-DMOTI_WG_NO_C, wrong on purpose)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22,979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25,795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98,637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104,133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423,127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497,215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derived — reading C alone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2,407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6,788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4,763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48,544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31,038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212C"/>
                          </a:solidFill>
                          <a:latin typeface="Segoe UI"/>
                        </a:rPr>
                        <a:t>what DXA is worth (4 ÷ 3, full kernel)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1.28×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1.48×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9F2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93192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§ measured at -a 6 (the identity, byte-identical to -a 1); the -a 1 non-termination is unexplained and lives below the kernel.  ‡ mode 4 at the largest shape finishes at no app 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SWEEP ⚠  </a:t>
            </a:r>
            <a:r>
              <a:rPr sz="2000" b="1">
                <a:solidFill>
                  <a:srgbClr val="16212C"/>
                </a:solidFill>
                <a:latin typeface="Segoe UI"/>
              </a:rPr>
              <a:t>Engine width sweep at 512 × 256 × 128 — SUPERSEDED, measured on the combined binary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0927" y="960120"/>
          <a:ext cx="1014984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914400"/>
                <a:gridCol w="1371600"/>
                <a:gridCol w="12801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MACS / ACC_BANKS / SMEM_BANKS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7 cycles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7 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vs 1×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8 cycles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8 MAC/cyc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vs 1×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1× (16 / 2 / 2, 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324,469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51.71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1,140,573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14.71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2× (32 / 4 / 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243,869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1.33×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663,865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25.27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1.72×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4× (64 / 8 / 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223,977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74.91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1.45×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411,997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40.72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9A6414"/>
                          </a:solidFill>
                          <a:latin typeface="Consolas"/>
                        </a:rPr>
                        <a:t>2.77×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0632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⚠ Absolute cycles predate the per-mode device programs and do not survive; the ratios (between builds differing only in engine width) do. Re-run on the isolated programs before quoting.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A6414"/>
                </a:solidFill>
                <a:latin typeface="Consolas"/>
              </a:rPr>
              <a:t>2026-08-27  </a:t>
            </a:r>
            <a:r>
              <a:rPr sz="2000" b="1">
                <a:solidFill>
                  <a:srgbClr val="16212C"/>
                </a:solidFill>
                <a:latin typeface="Segoe UI"/>
              </a:rPr>
              <a:t>Mode 3 / mode 5 cycles after the rollover repair (selected controls)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0847" y="960120"/>
          <a:ext cx="1143000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2560320"/>
                <a:gridCol w="2560320"/>
                <a:gridCol w="2743200"/>
                <a:gridCol w="2560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shape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GELU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softmax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7B8B9C"/>
                          </a:solidFill>
                          <a:latin typeface="Consolas"/>
                        </a:rPr>
                        <a:t>column mean</a:t>
                      </a:r>
                    </a:p>
                  </a:txBody>
                  <a:tcPr marL="54864" marR="54864" marT="18288" marB="18288" anchor="ctr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r8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1,271,236 / 771,276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1,206,215 / 934,264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3,380,091 / 2,894,187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1,411,349 / 911,445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r16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4,922,450 / 3,167,132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4,553,521 / 3,901,604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13,152,718 / 11,389,887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5,320,533 / 3,565,268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s256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669,466 / 422,363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627,081 / 528,061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1,943,037 / 1,674,336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739,935 / 492,876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12C"/>
                          </a:solidFill>
                          <a:latin typeface="Segoe UI"/>
                        </a:rPr>
                        <a:t>s1024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9,845,019 / 6,116,052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8,814,271 / 7,202,122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27,077,567 / 23,321,603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6212C"/>
                          </a:solidFill>
                          <a:latin typeface="Consolas"/>
                        </a:rPr>
                        <a:t>10,615,767 / 6,883,131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56616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D70"/>
                </a:solidFill>
                <a:latin typeface="Segoe UI"/>
              </a:rPr>
              <a:t>Cells are mode 3 / mode 5. All 112 shape × epilogue × mode points now finish with errors = 0; the old timeouts were a TCU tile-buffer tag rollover, not DTCU/L2 arbitration. Full data: result/260827_data/exp1_m3_m5_final_20260827.csv. Mode 3 is the no-A-residency control for candidate mode 5; this table does not redefine the placement winner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